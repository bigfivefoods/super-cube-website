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3152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2011680" cy="4297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1965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02920" y="269748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Human-centric leadership developed from the core outward.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50292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02920" y="3429000"/>
            <a:ext cx="73152" cy="475488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751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237744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377440" y="3429000"/>
            <a:ext cx="73152" cy="475488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54203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5196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251960" y="3429000"/>
            <a:ext cx="73152" cy="475488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1655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2648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126480" y="3429000"/>
            <a:ext cx="73152" cy="475488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9107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0100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01000" y="3429000"/>
            <a:ext cx="73152" cy="475488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16559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9875520" y="3429000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875520" y="3429000"/>
            <a:ext cx="73152" cy="475488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0040112" y="35478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02920" y="4297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Craig Ross Muller  ·  UKZN DBA 2020  ·  Schools · Corporate L&amp;D · Coaches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02920" y="5806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development is fragmented.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02920" y="1554480"/>
            <a:ext cx="73152" cy="2057400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19202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skill fads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68680" y="2423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modules on communication, resilience, or EQ—without a coherent whole-person model that links them.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26480" y="15544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126480" y="1554480"/>
            <a:ext cx="73152" cy="2057400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92240" y="19202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measure growth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92240" y="2423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and smile sheets replace pre/post capability data. Leaders cannot see which faces moved—and which did not.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379476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02920" y="3794760"/>
            <a:ext cx="73152" cy="2057400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6868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language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6868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Schools, companies, and coaches use different frameworks. Cohorts lack one map that works from age 5 to senior leadership.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126480" y="379476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26480" y="3794760"/>
            <a:ext cx="73152" cy="2057400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9224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Imported, incomplete models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492240" y="4663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lists and Western templates under-weight ethics, body, purpose, and relational philosophy—especially in African contexts.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 → Theory → Model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02920" y="1417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is a practiceable model—grounded in philosophy and theory, not a free-floating fad.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02920" y="187452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02920" y="1874520"/>
            <a:ext cx="3429000" cy="54864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58952" y="213055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PHILOSOPHY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58952" y="240487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&amp; worldview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58952" y="288036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 Buber — I–Thou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58952" y="320040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— I am because we are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58952" y="352044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 Wilber — AQAL integral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886200" y="278892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187952" y="187452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87952" y="1874520"/>
            <a:ext cx="342900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43984" y="213055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THEORY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443984" y="240487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leadership works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443984" y="288036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Illeris: Content · Incentive · Interaction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443984" y="320040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theories (six faces)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443984" y="352044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map → integral frames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571232" y="2788920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872984" y="187452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872984" y="1874520"/>
            <a:ext cx="342900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129016" y="213055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MODEL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129016" y="2404872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Practiceable framework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129016" y="288036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at the centre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8129016" y="320040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developable faces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8129016" y="352044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· practise · re-measure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02920" y="4297680"/>
            <a:ext cx="5532120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758952" y="446227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CONSTRUCT-LEVEL THEORIES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58952" y="4855464"/>
            <a:ext cx="128016" cy="128016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978408" y="48006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Choices: Choice theory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3410712" y="4855464"/>
            <a:ext cx="128016" cy="128016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630168" y="48006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Principles: Caldwell et al. principle-centred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758952" y="5266944"/>
            <a:ext cx="128016" cy="128016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78408" y="52120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Mental: Cognition theory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3410712" y="5266944"/>
            <a:ext cx="128016" cy="128016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630168" y="52120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Emotional: Mayer, Salovey &amp; Caruso EI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758952" y="5678424"/>
            <a:ext cx="128016" cy="128016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978408" y="5623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 Wheel of Wellness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3410712" y="5678424"/>
            <a:ext cx="128016" cy="128016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3630168" y="562356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Spiritual: Spiritual intelligence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6217920" y="4297680"/>
            <a:ext cx="5513832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45" name="Text 41"/>
          <p:cNvSpPr/>
          <p:nvPr/>
        </p:nvSpPr>
        <p:spPr>
          <a:xfrm>
            <a:off x="6446520" y="44622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MAP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6446520" y="48006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schools → contemporary frames</a:t>
            </a:r>
            <a:endParaRPr lang="en-US" sz="1400" dirty="0"/>
          </a:p>
        </p:txBody>
      </p:sp>
      <p:sp>
        <p:nvSpPr>
          <p:cNvPr id="47" name="Text 43"/>
          <p:cNvSpPr/>
          <p:nvPr/>
        </p:nvSpPr>
        <p:spPr>
          <a:xfrm>
            <a:off x="6446520" y="52120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 ·  Behavioural  ·  Contingency  ·  Relational  ·  Shared  ·  Neuroscience  →  Integral frames (AQAL, I–Thou, Ubuntu)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50" name="Text 46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at the centre. Six developable faces.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02920" y="1417320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is a multidimensional leadership model: the individual sits at the core of a cube whose six faces are Choices, Principles, Mental, Emotional, Physical, and Spiritual—each a developable domain of human-centric leadership.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709160" y="260604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171A20"/>
          </a:solidFill>
          <a:ln w="12700">
            <a:solidFill>
              <a:srgbClr val="171A20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4709160" y="28803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709160" y="3337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developing leader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02920" y="233172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331720"/>
            <a:ext cx="1874520" cy="54864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262432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2560320" y="233172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560320" y="2331720"/>
            <a:ext cx="1874520" cy="54864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60320" y="262432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7635240" y="233172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635240" y="2331720"/>
            <a:ext cx="187452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635240" y="262432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9692640" y="233172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692640" y="2331720"/>
            <a:ext cx="1874520" cy="54864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692640" y="262432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2560320" y="434340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2560320" y="4343400"/>
            <a:ext cx="1874520" cy="54864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560320" y="463600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7635240" y="434340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7635240" y="4343400"/>
            <a:ext cx="187452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635240" y="463600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502920" y="57607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from the core outward—measure, practise, re-measure.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FACES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cube. Six leadership capacities.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02920" y="1554480"/>
            <a:ext cx="3566160" cy="54864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8952" y="1874520"/>
            <a:ext cx="256032" cy="256032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14300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758952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under complexity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58952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theory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5196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51960" y="1554480"/>
            <a:ext cx="3566160" cy="54864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07992" y="1874520"/>
            <a:ext cx="256032" cy="256032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9204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507992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foundations &amp; trust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507992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Principle-centred leadership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0100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01000" y="1554480"/>
            <a:ext cx="356616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57032" y="1874520"/>
            <a:ext cx="256032" cy="256032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4108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8257032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Clarity, vision, problem-solving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8257032" y="2926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Cognition theory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0292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02920" y="3794760"/>
            <a:ext cx="3566160" cy="54864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58952" y="4114800"/>
            <a:ext cx="256032" cy="256032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14300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700" dirty="0"/>
          </a:p>
        </p:txBody>
      </p:sp>
      <p:sp>
        <p:nvSpPr>
          <p:cNvPr id="28" name="Text 24"/>
          <p:cNvSpPr/>
          <p:nvPr/>
        </p:nvSpPr>
        <p:spPr>
          <a:xfrm>
            <a:off x="758952" y="4617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&amp; social intelligence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758952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67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ability model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425196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251960" y="3794760"/>
            <a:ext cx="3566160" cy="54864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07992" y="4114800"/>
            <a:ext cx="256032" cy="256032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892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700" dirty="0"/>
          </a:p>
        </p:txBody>
      </p:sp>
      <p:sp>
        <p:nvSpPr>
          <p:cNvPr id="34" name="Text 30"/>
          <p:cNvSpPr/>
          <p:nvPr/>
        </p:nvSpPr>
        <p:spPr>
          <a:xfrm>
            <a:off x="4507992" y="4617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presence, stamina</a:t>
            </a:r>
            <a:endParaRPr lang="en-US" sz="1300" dirty="0"/>
          </a:p>
        </p:txBody>
      </p:sp>
      <p:sp>
        <p:nvSpPr>
          <p:cNvPr id="35" name="Text 31"/>
          <p:cNvSpPr/>
          <p:nvPr/>
        </p:nvSpPr>
        <p:spPr>
          <a:xfrm>
            <a:off x="4507992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 of Wellness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800100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8001000" y="3794760"/>
            <a:ext cx="356616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257032" y="4114800"/>
            <a:ext cx="256032" cy="256032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64108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8257032" y="4617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contribution, example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8257032" y="51663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 intelligence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 validated. Practice-oriented.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71A20"/>
          </a:solidFill>
          <a:ln w="12700">
            <a:solidFill>
              <a:srgbClr val="171A20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10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68680" y="187452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DOCTORAL RESEARCH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68680" y="2240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UKZN · DBA · 2020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868680" y="2788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Leadership Skills Development Model for the Kwaden Group: A Case Study of an African FMCG Business-Network (Muller, C. R.).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68680" y="3840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Pragmatic explanatory sequential mixed methods: quantitative structure first, qualitative depth second—within an African FMCG business network.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8680" y="49377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N=132  ·  CFA CFI≈0.86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N=10  ·  α≈0.60–0.80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355080" y="1554480"/>
            <a:ext cx="5330952" cy="1417320"/>
          </a:xfrm>
          <a:prstGeom prst="roundRect">
            <a:avLst>
              <a:gd name="adj" fmla="val 516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55080" y="1554480"/>
            <a:ext cx="73152" cy="1417320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75120" y="18105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70–76%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75120" y="2240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capacity developable through deliberate practice—not fixed by heredity alone.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355080" y="3108960"/>
            <a:ext cx="5330952" cy="1417320"/>
          </a:xfrm>
          <a:prstGeom prst="roundRect">
            <a:avLst>
              <a:gd name="adj" fmla="val 516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55080" y="3108960"/>
            <a:ext cx="73152" cy="1417320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75120" y="33649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+45.1%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6675120" y="37947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gain (Principles) in the 12-week Super-Cube® intervention with Imana Foods and Kerry Foods.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355080" y="4663440"/>
            <a:ext cx="5330952" cy="1417320"/>
          </a:xfrm>
          <a:prstGeom prst="roundRect">
            <a:avLst>
              <a:gd name="adj" fmla="val 516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55080" y="4663440"/>
            <a:ext cx="73152" cy="1417320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675120" y="49194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faces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6675120" y="5349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constructs validated in survey structure and senior-leader interviews.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LEARN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6-step pathway from orientation to certificate.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438912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438912" y="1600200"/>
            <a:ext cx="1828800" cy="54864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38912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548640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programme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48640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· Adolescents · Adults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77440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377440" y="1600200"/>
            <a:ext cx="1828800" cy="54864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37744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2487168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487168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philosophy · theory · model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315968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315968" y="1600200"/>
            <a:ext cx="182880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315968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4425696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425696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Pre-assess all six faces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254496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54496" y="1600200"/>
            <a:ext cx="1828800" cy="54864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54496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7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6364224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six faces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364224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+ deliberate practice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8193024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193024" y="1600200"/>
            <a:ext cx="1828800" cy="54864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193024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5"/>
          <p:cNvSpPr/>
          <p:nvPr/>
        </p:nvSpPr>
        <p:spPr>
          <a:xfrm>
            <a:off x="8302752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8302752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Post-assessment &amp; growth delta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10131552" y="1600200"/>
            <a:ext cx="1828800" cy="4434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10131552" y="1600200"/>
            <a:ext cx="182880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10131552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0"/>
          <p:cNvSpPr/>
          <p:nvPr/>
        </p:nvSpPr>
        <p:spPr>
          <a:xfrm>
            <a:off x="10241280" y="27432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certificate</a:t>
            </a:r>
            <a:endParaRPr lang="en-US" sz="1500" dirty="0"/>
          </a:p>
        </p:txBody>
      </p:sp>
      <p:sp>
        <p:nvSpPr>
          <p:cNvPr id="35" name="Text 31"/>
          <p:cNvSpPr/>
          <p:nvPr/>
        </p:nvSpPr>
        <p:spPr>
          <a:xfrm>
            <a:off x="10241280" y="40233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report + verified cert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PRACTICE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becomes behaviour.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one-off courses: continuous face tracking, micro-practices, and a weekly plan keep growth alive between sessions.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02920" y="201168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22960" y="233172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2960" y="2450592"/>
            <a:ext cx="530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3154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check-in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22960" y="36118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PULSE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4114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ratings across the six faces reveal patterns over days and weeks—strengths, dips, and priorities.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01168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33172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72000" y="2450592"/>
            <a:ext cx="530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572000" y="3154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Micro-practices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4572000" y="36118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REPS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572000" y="4114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targeted actions matched to weaker faces so deliberate practice fits real schedules.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001000" y="201168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331720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F4F4F4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321040" y="2450592"/>
            <a:ext cx="530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321040" y="3154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plan</a:t>
            </a:r>
            <a:endParaRPr lang="en-US" sz="1900" dirty="0"/>
          </a:p>
        </p:txBody>
      </p:sp>
      <p:sp>
        <p:nvSpPr>
          <p:cNvPr id="23" name="Text 19"/>
          <p:cNvSpPr/>
          <p:nvPr/>
        </p:nvSpPr>
        <p:spPr>
          <a:xfrm>
            <a:off x="8321040" y="36118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&amp; REVIEW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321040" y="4114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plan that names focus faces, wins, and next steps—ready for coaches and cohorts.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cube. Age-adapted language.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02920" y="1554480"/>
            <a:ext cx="3566160" cy="54864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822960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5–12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2296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character, curiosity, and kindness.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22960" y="3931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Stories, play-based practice, parent/teacher support.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25196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51960" y="1554480"/>
            <a:ext cx="3566160" cy="54864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Adolescents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4572000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67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13–21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57200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influence, and wise decisions.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572000" y="3931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School, sport, first jobs, digital life scenarios.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0100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01000" y="1554480"/>
            <a:ext cx="356616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32104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8321040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22+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832104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Human-centric leadership for work and life.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8321040" y="3931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pathway: assess → learn → practise → report.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502920" y="539496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 ·  Individuals  ·  Schools  ·  Corporate L&amp;D  ·  Coaches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02920" y="5760720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language from age 5 to senior leadership—one model, adapted pathways.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packs, cohorts, and coach visibility.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758952" y="1874520"/>
            <a:ext cx="237744" cy="237744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43000" y="1847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58952" y="23774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 / 50 seats with volume discounts for classrooms, departments, and school or company licences.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25196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7992" y="1874520"/>
            <a:ext cx="237744" cy="237744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92040" y="1847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codes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07992" y="23774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join with a simple code—roster stays under coach and admin control.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01000" y="15544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7032" y="1874520"/>
            <a:ext cx="237744" cy="237744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641080" y="1847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heat map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8257032" y="23774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face strengths and gaps across a cohort so facilitation targets what matters.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58952" y="4114800"/>
            <a:ext cx="237744" cy="237744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43000" y="40873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758952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and outcomes export for L&amp;D systems, boards, and safeguarding records.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25196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07992" y="4114800"/>
            <a:ext cx="237744" cy="237744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892040" y="40873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journals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4507992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reflections stay private; coaches get aggregate signals without oversharing.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8001000" y="37947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257032" y="4114800"/>
            <a:ext cx="237744" cy="237744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641080" y="40873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57032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cohort pattern: orient, baseline, faces, re-measure, certify—ready for staff rooms.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4008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168"/>
            <a:ext cx="1508760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6583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89611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free. Pay once. No subscription.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0292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22960" y="1874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2296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822960" y="30175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Device-local baseline across six faces. See your map before you commit to the full pathway.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2960" y="5349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card required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171A20"/>
          </a:solidFill>
          <a:ln w="12700">
            <a:solidFill>
              <a:srgbClr val="171A20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97680" y="1554480"/>
            <a:ext cx="3566160" cy="54864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617720" y="19202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PATHWAY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17720" y="2331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R99  /  $6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4617720" y="2880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learner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617720" y="33832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→ courses → practice → re-measure → report &amp; certificate. Same price for Kids, Adolescents, and Adults.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617720" y="5349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checkout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13816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7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458200" y="1874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84582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discount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8458200" y="3017520"/>
            <a:ext cx="164592" cy="164592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32520" y="29718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seats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8732520" y="32644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off  ·  classroom pilot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458200" y="3840480"/>
            <a:ext cx="164592" cy="164592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732520" y="37947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seats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8732520" y="40873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off  ·  popular cohort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8458200" y="4663440"/>
            <a:ext cx="164592" cy="164592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732520" y="46177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seats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8732520" y="4910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off  ·  school licence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rainbow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3152"/>
          </a:xfrm>
          <a:prstGeom prst="rect">
            <a:avLst/>
          </a:prstGeom>
        </p:spPr>
      </p:pic>
      <p:pic>
        <p:nvPicPr>
          <p:cNvPr id="3" name="Image 1" descr="Super-Cube®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1828800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18288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develop leaders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core outward?</a:t>
            </a:r>
            <a:endParaRPr lang="en-US" sz="3400" dirty="0"/>
          </a:p>
        </p:txBody>
      </p:sp>
      <p:sp>
        <p:nvSpPr>
          <p:cNvPr id="5" name="Shape 1"/>
          <p:cNvSpPr/>
          <p:nvPr/>
        </p:nvSpPr>
        <p:spPr>
          <a:xfrm>
            <a:off x="502920" y="3200400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171A20"/>
          </a:solidFill>
          <a:ln w="12700">
            <a:solidFill>
              <a:srgbClr val="171A20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502920" y="33375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baseline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3840480" y="3200400"/>
            <a:ext cx="25603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E8E8E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840480" y="33375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pilot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02920" y="4160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pPr indent="0" marL="0">
              <a:buNone/>
            </a:pPr>
            <a:r>
              <a:rPr lang="en-US" sz="15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5C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hello@super-cube.me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02920" y="4846320"/>
            <a:ext cx="64008" cy="384048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922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37744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377440" y="4846320"/>
            <a:ext cx="64008" cy="384048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2374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25196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4846320"/>
            <a:ext cx="64008" cy="384048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39826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12648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126480" y="4846320"/>
            <a:ext cx="64008" cy="384048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7278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00100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01000" y="4846320"/>
            <a:ext cx="64008" cy="384048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14730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875520" y="4846320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FAFAFA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875520" y="4846320"/>
            <a:ext cx="64008" cy="384048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0021824" y="49194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02920" y="55778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Craig Ross Muller  ·  Super-Cube®  ·  Human-centric leadership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02920" y="6382512"/>
            <a:ext cx="11185855" cy="9144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0591495" y="6492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Super-Cube®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Super-Cube® Overview</dc:title>
  <dc:subject>Human-centric leadership developed from the core outward</dc:subject>
  <dc:creator>Craig Ross Muller</dc:creator>
  <cp:lastModifiedBy>Craig Ross Muller</cp:lastModifiedBy>
  <cp:revision>1</cp:revision>
  <dcterms:created xsi:type="dcterms:W3CDTF">2026-10-07T13:53:36Z</dcterms:created>
  <dcterms:modified xsi:type="dcterms:W3CDTF">2026-10-07T13:53:36Z</dcterms:modified>
</cp:coreProperties>
</file>