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3" name="Image 0" descr="/workspaces/super-cube-website/public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91840" cy="6949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1488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40080" y="29718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developed from the core outward.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3703320"/>
            <a:ext cx="128016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pPr indent="0" marL="0">
              <a:buNone/>
            </a:pPr>
            <a:r>
              <a:rPr lang="en-US" sz="14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</a:t>
            </a:r>
            <a:pPr indent="0" marL="0">
              <a:buNone/>
            </a:pPr>
            <a:r>
              <a:rPr lang="en-US" sz="14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UKZN 2020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 ·  Schools · Corporate L&amp;D · Coaches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development is fragmented.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109728" cy="1920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skill fads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modules on communication, resilience, or EQ—without a coherent whole-person model that links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109728" cy="1920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measure growth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2377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smile sheets replace pre/post capability data. Leaders cannot see which faces moved—and which did not.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749040"/>
            <a:ext cx="109728" cy="1920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45262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Schools, companies, and coaches use different frameworks. Cohorts lack one map that works from age 5 to senior leadership.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374904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3749040"/>
            <a:ext cx="109728" cy="1920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Imported, incomplete models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9400" y="45262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lists and Western templates under-weight ethics, body, purpose, and relational philosophy—especially in African contexts.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at the centre. Six developable faces.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is a multidimensional leadership model: the individual sits at the core of a cube whose six faces are Choices, Principles, Mental, Emotional, Physical, and Spiritual—each a developable domain of human-centric leadership.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709160" y="260604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09160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70916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developing leader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06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0" y="233172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2606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635240" y="233172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2606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738360" y="233172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38360" y="2606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743200" y="44348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4709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635240" y="44348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709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from the core outward—measure, practise, re-measure.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cube. Six leadership capacities.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3566160" cy="128016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965960"/>
            <a:ext cx="347472" cy="347472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993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under complexity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554480"/>
            <a:ext cx="3566160" cy="128016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965960"/>
            <a:ext cx="347472" cy="347472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66360" y="1993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2606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foundations &amp; trust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1554480"/>
            <a:ext cx="3566160" cy="128016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1965960"/>
            <a:ext cx="347472" cy="347472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1993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0" y="2606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Clarity, vision, problem-solving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40480"/>
            <a:ext cx="3566160" cy="128016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251960"/>
            <a:ext cx="347472" cy="347472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&amp; social intelligence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89120" y="384048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89120" y="3840480"/>
            <a:ext cx="3566160" cy="128016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4251960"/>
            <a:ext cx="347472" cy="347472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66360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6344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presence, stamina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138160" y="3840480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3840480"/>
            <a:ext cx="3566160" cy="128016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12480" y="4251960"/>
            <a:ext cx="347472" cy="347472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15400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41248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contribution, example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 validated. Practice-oriented.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DOCTORAL RESEARCH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148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UKZN · DBA · 2020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Leadership Skills Development Model for the Kwaden Group: A Case Study of an African FMCG Business-Network (Muller, C. R.).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703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Pragmatic explanatory sequential mixed methods: quantitative structure first, qualitative depth second—within an African FMCG business network.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7091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N=132  ·  CFA CFI≈0.86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N=10  ·  α≈0.60–0.80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29400" y="1508760"/>
            <a:ext cx="4892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03720" y="21488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as subjects-in-relation—leadership that honours shared humanity.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29400" y="3017520"/>
            <a:ext cx="4892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03720" y="3291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I–Thou (Buber)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03720" y="3657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respect: learners are whole beings, not objects of control.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29400" y="4526280"/>
            <a:ext cx="4892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3720" y="48006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/ AQAL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51663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Higher-order framing that holds mind, culture, systems, and body together.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LEARN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6-step pathway from orientation to certificate.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828800" cy="3931920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12648" y="274320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programme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2648" y="402336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· Adolescents · Adults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41448" y="1691640"/>
            <a:ext cx="182880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1448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51176" y="274320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51176" y="402336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how you think about leadership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79976" y="1691640"/>
            <a:ext cx="1828800" cy="3931920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79976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9704" y="402336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Pre-assess all six faces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18504" y="1691640"/>
            <a:ext cx="182880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8504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28232" y="274320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six faces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28232" y="402336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+ deliberate practice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57032" y="1691640"/>
            <a:ext cx="1828800" cy="3931920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66760" y="274320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66760" y="402336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Post-assessment &amp; growth delta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195560" y="1691640"/>
            <a:ext cx="182880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9556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305288" y="274320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certificate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305288" y="402336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report + verified cert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becomes behaviour.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one-off courses: continuous face tracking, micro-practices, and a weekly plan keep growth alive between sessions.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3317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5059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check-in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36118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PULSE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06908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ratings across the six faces reveal patterns over days and weeks—strengths, dips, and priorities.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34840" y="201168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23317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45059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200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Micro-practices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6118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REPS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406908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targeted actions matched to weaker faces so deliberate practice fits real schedules.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0" y="201168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49640" y="23317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49640" y="245059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49640" y="3200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plan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549640" y="36118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&amp; REVIEW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49640" y="406908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plan that names focus faces, wins, and next steps—ready for coaches and cohorts.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people who develop people.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Self-directed leaders who want a free baseline, a clear growth map, and a personal report.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675120" y="2468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Age-adapted pathways for kids and adolescents—shared language for character and leadership.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148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L&amp;D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46634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codes, seat packs, pre/post evidence, and CSV export for talent programmes.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74904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41148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75120" y="46634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maps across faces, private learner journals, and tools to guide deliberate practice.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cube. Age-adapted language.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611880" cy="42976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3611880" cy="1234440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5–12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character, curiosity, and kindness.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Stories, play-based practice, parent/teacher support.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1554480"/>
            <a:ext cx="3611880" cy="42976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554480"/>
            <a:ext cx="3611880" cy="123444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783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0916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13–21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09160" y="31089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influence, and wise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091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School, sport, first jobs, digital life scenarios.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1554480"/>
            <a:ext cx="3611880" cy="42976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1554480"/>
            <a:ext cx="3611880" cy="1234440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0" y="1783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50392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22+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03920" y="31089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for work and life.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pathway: assess → learn → practise → report.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packs, cohorts, and coach visibility.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74520"/>
            <a:ext cx="292608" cy="2926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8745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 / 50 seats with volume discounts for classrooms, departments, and school or company licences.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55448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874520"/>
            <a:ext cx="292608" cy="2926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66360" y="18745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codes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9160" y="24231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join with a simple code—roster stays under coach and admin control.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03920" y="1874520"/>
            <a:ext cx="292608" cy="2926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0" y="18745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heat map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03920" y="24231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face strengths and gaps across a cohort so facilitation targets what matters.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79476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114800"/>
            <a:ext cx="292608" cy="2926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66344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and outcomes export for L&amp;D systems, boards, and safeguarding records.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434840" y="379476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4114800"/>
            <a:ext cx="292608" cy="2926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6636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journals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09160" y="466344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reflections stay private; coaches get aggregate signals without oversharing.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29600" y="379476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03920" y="4114800"/>
            <a:ext cx="292608" cy="2926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03920" y="466344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cohort pattern: orient, baseline, faces, re-measure, certify—ready for staff rooms.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free. Pay once. No subscription.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Device-local baseline across six faces. See your map before you commit to the full pathway.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card required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155448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R99  /  $6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709160" y="2880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learner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9160" y="33832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→ courses → practice → re-measure → report &amp; certificate. Same price for Kids, Adolescents, and Adults.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09160" y="5029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checkout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291840" cy="42976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03920" y="2286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discount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seats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03920" y="32278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off  ·  pilot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0392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seats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03920" y="3913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off  ·  popular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0392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seats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599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off  ·  licence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 ·  Confidential overview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155680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3" name="Image 0" descr="/workspaces/super-cube-website/public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2560320" cy="5394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828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develop leaders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core outward?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640080" y="3383280"/>
            <a:ext cx="3108960" cy="640080"/>
          </a:xfrm>
          <a:prstGeom prst="roundRect">
            <a:avLst>
              <a:gd name="adj" fmla="val 1142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baseline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977640" y="33832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A1A1A"/>
          </a:solidFill>
          <a:ln w="19050">
            <a:solidFill>
              <a:srgbClr val="4040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977640" y="3520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pilot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pPr indent="0" marL="0">
              <a:buNone/>
            </a:pPr>
            <a:r>
              <a:rPr lang="en-US" sz="16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6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hello@super-cube.me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  ·  Super-Cube®  ·  Human-centric leadership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Super-Cube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Super-Cube® Overview</dc:title>
  <dc:subject>Human-centric leadership developed from the core outward</dc:subject>
  <dc:creator>Craig Ross Muller</dc:creator>
  <cp:lastModifiedBy>Craig Ross Muller</cp:lastModifiedBy>
  <cp:revision>1</cp:revision>
  <dcterms:created xsi:type="dcterms:W3CDTF">2026-08-12T13:22:38Z</dcterms:created>
  <dcterms:modified xsi:type="dcterms:W3CDTF">2026-08-12T13:22:38Z</dcterms:modified>
</cp:coreProperties>
</file>