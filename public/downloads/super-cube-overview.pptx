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371600"/>
            <a:ext cx="219456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1463040"/>
            <a:ext cx="1901952" cy="38404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22402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Super-Cube®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457200" y="3017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Human-centric leadership developed from the core outward.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457200" y="3794760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457200" y="3858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2331720" y="3794760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31720" y="3858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206240" y="3794760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206240" y="3858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80760" y="3794760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080760" y="3858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955280" y="3794760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955280" y="3858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829800" y="3794760"/>
            <a:ext cx="1737360" cy="438912"/>
          </a:xfrm>
          <a:prstGeom prst="roundRect">
            <a:avLst>
              <a:gd name="adj" fmla="val 16667"/>
            </a:avLst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858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57200" y="4709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Craig Ross Muller  ·  UKZN DBA 2020  ·  Schools · Corporate L&amp;D · Coaches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5720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overview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1/12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82880"/>
            <a:ext cx="169164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4320"/>
            <a:ext cx="1472184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31720" y="201168"/>
            <a:ext cx="9402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57200" y="11704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Leadership development is fragmented.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457200" y="173736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57200" y="1737360"/>
            <a:ext cx="109728" cy="1965960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2296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Siloed skill fads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822960" y="25603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modules on communication, resilience, or EQ—without a coherent whole-person model that links them.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126480" y="173736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126480" y="1737360"/>
            <a:ext cx="109728" cy="1965960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92240" y="2057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to measure growth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6492240" y="25603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and smile sheets replace pre/post capability data. Leaders cannot see which faces moved—and which did not.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457200" y="388620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" y="3886200"/>
            <a:ext cx="109728" cy="1965960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22960" y="4206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language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822960" y="4709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Schools, companies, and coaches use different frameworks. Cohorts lack one map that works from age 5 to senior leadership.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126480" y="3886200"/>
            <a:ext cx="544068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126480" y="3886200"/>
            <a:ext cx="109728" cy="1965960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492240" y="4206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Imported, incomplete models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6492240" y="470916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lists and Western templates under-weight ethics, body, purpose, and relational philosophy—especially in African contexts.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82880"/>
            <a:ext cx="169164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4320"/>
            <a:ext cx="1472184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31720" y="201168"/>
            <a:ext cx="9402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Philosophy → Theory → Model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57200" y="1143000"/>
            <a:ext cx="112772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is a practiceable model—grounded in philosophy and theory, not a free-floating fad.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457200" y="155448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57200" y="1554480"/>
            <a:ext cx="3429000" cy="91440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85800" y="18105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PHILOSOPHY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685800" y="20848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Values &amp; worldview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685800" y="25603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Martin Buber — I–Thou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685800" y="290779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Ubuntu — I am because we are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685800" y="325526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Ken Wilber — AQAL integral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840480" y="24688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4142232" y="155448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142232" y="1554480"/>
            <a:ext cx="3429000" cy="91440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4370832" y="18105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THEORY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370832" y="20848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leadership works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4370832" y="25603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Illeris: Content · Incentive · Interaction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370832" y="290779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Construct theories (six faces)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4370832" y="325526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Literature map → integral frames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7525512" y="246888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7827264" y="155448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7827264" y="1554480"/>
            <a:ext cx="3429000" cy="91440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055864" y="181051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MODEL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8055864" y="20848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Practiceable framework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055864" y="256032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Person at the centre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8055864" y="290779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Six developable faces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055864" y="3255264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Assess · practise · re-measure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457200" y="4069080"/>
            <a:ext cx="55321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685800" y="4251960"/>
            <a:ext cx="5074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CONSTRUCT-LEVEL THEORIES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685800" y="4663440"/>
            <a:ext cx="164592" cy="164592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941832" y="4617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Choices: Choice theory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3337560" y="4663440"/>
            <a:ext cx="164592" cy="164592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3593592" y="46177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Principles: Caldwell et al. principle-centred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685800" y="5138928"/>
            <a:ext cx="164592" cy="164592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941832" y="5093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Mental: Cognition theory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3337560" y="5138928"/>
            <a:ext cx="164592" cy="164592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593592" y="5093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Emotional: Mayer, Salovey &amp; Caruso EI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685800" y="5614416"/>
            <a:ext cx="164592" cy="164592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941832" y="556869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Physical: Wheel of Wellness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3337560" y="5614416"/>
            <a:ext cx="164592" cy="164592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3593592" y="556869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Spiritual: Spiritual intelligence</a:t>
            </a:r>
            <a:endParaRPr lang="en-US" sz="1100" dirty="0"/>
          </a:p>
        </p:txBody>
      </p:sp>
      <p:sp>
        <p:nvSpPr>
          <p:cNvPr id="44" name="Shape 40"/>
          <p:cNvSpPr/>
          <p:nvPr/>
        </p:nvSpPr>
        <p:spPr>
          <a:xfrm>
            <a:off x="6172200" y="4069080"/>
            <a:ext cx="5559552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45" name="Text 41"/>
          <p:cNvSpPr/>
          <p:nvPr/>
        </p:nvSpPr>
        <p:spPr>
          <a:xfrm>
            <a:off x="6400800" y="4251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MAP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6400800" y="4572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schools → contemporary frames</a:t>
            </a:r>
            <a:endParaRPr lang="en-US" sz="1300" dirty="0"/>
          </a:p>
        </p:txBody>
      </p:sp>
      <p:sp>
        <p:nvSpPr>
          <p:cNvPr id="47" name="Text 43"/>
          <p:cNvSpPr/>
          <p:nvPr/>
        </p:nvSpPr>
        <p:spPr>
          <a:xfrm>
            <a:off x="6400800" y="498348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  ·  Behavioural  ·  Contingency  ·  Relational  ·  Shared  ·  Neuroscience  →  Integral frames (AQAL, I–Thou, Ubuntu)</a:t>
            </a:r>
            <a:endParaRPr lang="en-US" sz="1300" dirty="0"/>
          </a:p>
        </p:txBody>
      </p:sp>
      <p:sp>
        <p:nvSpPr>
          <p:cNvPr id="48" name="Text 44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502920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8229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 at the centre. Six developable faces.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4C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is a multidimensional leadership model: the individual sits at the core of a cube whose six faces are Choices, Principles, Mental, Emotional, Physical, and Spiritual—each a developable domain of human-centric leadership.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709160" y="2651760"/>
            <a:ext cx="2743200" cy="1417320"/>
          </a:xfrm>
          <a:prstGeom prst="roundRect">
            <a:avLst>
              <a:gd name="adj" fmla="val 7742"/>
            </a:avLst>
          </a:prstGeom>
          <a:solidFill>
            <a:srgbClr val="161616"/>
          </a:solidFill>
          <a:ln w="25400">
            <a:solidFill>
              <a:srgbClr val="3B82F6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70916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4709160" y="3383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developing leader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2606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514600" y="23317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14600" y="2606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680960" y="23317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680960" y="2606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9738360" y="233172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738360" y="26060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2514600" y="443484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2514600" y="4709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680960" y="4434840"/>
            <a:ext cx="1920240" cy="914400"/>
          </a:xfrm>
          <a:prstGeom prst="roundRect">
            <a:avLst>
              <a:gd name="adj" fmla="val 10000"/>
            </a:avLst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680960" y="47091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from the core outward—measure, practise, re-measure.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4/12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82880"/>
            <a:ext cx="169164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4320"/>
            <a:ext cx="1472184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31720" y="201168"/>
            <a:ext cx="9402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faces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57200" y="11704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cube. Six leadership capacities.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457200" y="169164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57200" y="1691640"/>
            <a:ext cx="3611880" cy="109728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13232" y="2057400"/>
            <a:ext cx="329184" cy="329184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1188720" y="20756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713232" y="2606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Decision-making under complexity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13232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 theory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251960" y="169164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251960" y="1691640"/>
            <a:ext cx="3611880" cy="109728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07992" y="2057400"/>
            <a:ext cx="329184" cy="329184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983480" y="20756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507992" y="2606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foundations &amp; trust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507992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Principle-centred leadership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46720" y="169164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046720" y="1691640"/>
            <a:ext cx="3611880" cy="109728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8302752" y="2057400"/>
            <a:ext cx="329184" cy="329184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78240" y="207568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8302752" y="26060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Clarity, vision, problem-solving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8302752" y="3108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Cognition theory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457200" y="38862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457200" y="3886200"/>
            <a:ext cx="3611880" cy="109728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13232" y="4251960"/>
            <a:ext cx="329184" cy="329184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1188720" y="42702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700" dirty="0"/>
          </a:p>
        </p:txBody>
      </p:sp>
      <p:sp>
        <p:nvSpPr>
          <p:cNvPr id="29" name="Text 25"/>
          <p:cNvSpPr/>
          <p:nvPr/>
        </p:nvSpPr>
        <p:spPr>
          <a:xfrm>
            <a:off x="713232" y="4800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 &amp; social intelligence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713232" y="5303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67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 ability model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4251960" y="38862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251960" y="3886200"/>
            <a:ext cx="3611880" cy="109728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07992" y="4251960"/>
            <a:ext cx="329184" cy="329184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4983480" y="42702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700" dirty="0"/>
          </a:p>
        </p:txBody>
      </p:sp>
      <p:sp>
        <p:nvSpPr>
          <p:cNvPr id="35" name="Text 31"/>
          <p:cNvSpPr/>
          <p:nvPr/>
        </p:nvSpPr>
        <p:spPr>
          <a:xfrm>
            <a:off x="4507992" y="4800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Energy, presence, stamina</a:t>
            </a:r>
            <a:endParaRPr lang="en-US" sz="1300" dirty="0"/>
          </a:p>
        </p:txBody>
      </p:sp>
      <p:sp>
        <p:nvSpPr>
          <p:cNvPr id="36" name="Text 32"/>
          <p:cNvSpPr/>
          <p:nvPr/>
        </p:nvSpPr>
        <p:spPr>
          <a:xfrm>
            <a:off x="4507992" y="5303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 of Wellness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8046720" y="38862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046720" y="3886200"/>
            <a:ext cx="3611880" cy="109728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8302752" y="4251960"/>
            <a:ext cx="329184" cy="329184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8778240" y="427024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700" dirty="0"/>
          </a:p>
        </p:txBody>
      </p:sp>
      <p:sp>
        <p:nvSpPr>
          <p:cNvPr id="41" name="Text 37"/>
          <p:cNvSpPr/>
          <p:nvPr/>
        </p:nvSpPr>
        <p:spPr>
          <a:xfrm>
            <a:off x="8302752" y="48006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contribution, example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8302752" y="53035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 intelligence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44" name="Text 40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5/12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82880"/>
            <a:ext cx="169164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4320"/>
            <a:ext cx="1472184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31720" y="201168"/>
            <a:ext cx="9402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foundation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57200" y="11704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Empirically validated. Practice-oriented.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457200" y="1691640"/>
            <a:ext cx="5623560" cy="4480560"/>
          </a:xfrm>
          <a:prstGeom prst="roundRect">
            <a:avLst>
              <a:gd name="adj" fmla="val 2449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822960" y="19659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DOCTORAL RESEARCH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UKZN · DBA · 2020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28803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Leadership Skills Development Model for the Kwaden Group: A Case Study of an African FMCG Business-Network (Muller, C. R.).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22960" y="393192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Pragmatic explanatory sequential mixed methods: quantitative structure first, qualitative depth second—within an African FMCG business network.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22960" y="502920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N=132  ·  CFA CFI≈0.86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N=10  ·  α≈0.60–0.80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355080" y="1691640"/>
            <a:ext cx="53766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55080" y="1691640"/>
            <a:ext cx="109728" cy="1371600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675120" y="194767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70–76%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6675120" y="23774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capacity developable through deliberate practice—not fixed by heredity alone.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6355080" y="3200400"/>
            <a:ext cx="53766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355080" y="3200400"/>
            <a:ext cx="109728" cy="1371600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675120" y="34564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+45.1%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6675120" y="38862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construct gain in Principles—integrity, context, and accountable practice.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6355080" y="4709160"/>
            <a:ext cx="53766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355080" y="4709160"/>
            <a:ext cx="109728" cy="1371600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675120" y="496519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faces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6675120" y="539496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constructs validated in survey structure and senior-leader interviews.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6/12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82880"/>
            <a:ext cx="169164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4320"/>
            <a:ext cx="1472184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31720" y="201168"/>
            <a:ext cx="9402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Super-Cube® Learn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57200" y="11704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6-step pathway from orientation to certificate.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411480" y="1783080"/>
            <a:ext cx="1828800" cy="4160520"/>
          </a:xfrm>
          <a:prstGeom prst="roundRect">
            <a:avLst>
              <a:gd name="adj" fmla="val 5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11480" y="1783080"/>
            <a:ext cx="1828800" cy="109728"/>
          </a:xfrm>
          <a:prstGeom prst="rect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1148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521208" y="2926080"/>
            <a:ext cx="1609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programme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521208" y="420624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· Adolescents · Adults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2350008" y="1783080"/>
            <a:ext cx="182880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350008" y="1783080"/>
            <a:ext cx="1828800" cy="109728"/>
          </a:xfrm>
          <a:prstGeom prst="rect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350008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2459736" y="2926080"/>
            <a:ext cx="1609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2459736" y="420624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philosophy · theory · model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288536" y="1783080"/>
            <a:ext cx="1828800" cy="4160520"/>
          </a:xfrm>
          <a:prstGeom prst="roundRect">
            <a:avLst>
              <a:gd name="adj" fmla="val 5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288536" y="1783080"/>
            <a:ext cx="1828800" cy="109728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288536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4398264" y="2926080"/>
            <a:ext cx="1609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4398264" y="420624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Pre-assess all six faces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27064" y="1783080"/>
            <a:ext cx="182880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227064" y="1783080"/>
            <a:ext cx="1828800" cy="109728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227064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76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1"/>
          <p:cNvSpPr/>
          <p:nvPr/>
        </p:nvSpPr>
        <p:spPr>
          <a:xfrm>
            <a:off x="6336792" y="2926080"/>
            <a:ext cx="1609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six faces</a:t>
            </a:r>
            <a:endParaRPr lang="en-US" sz="1500" dirty="0"/>
          </a:p>
        </p:txBody>
      </p:sp>
      <p:sp>
        <p:nvSpPr>
          <p:cNvPr id="26" name="Text 22"/>
          <p:cNvSpPr/>
          <p:nvPr/>
        </p:nvSpPr>
        <p:spPr>
          <a:xfrm>
            <a:off x="6336792" y="420624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+ deliberate practice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8165592" y="1783080"/>
            <a:ext cx="1828800" cy="4160520"/>
          </a:xfrm>
          <a:prstGeom prst="roundRect">
            <a:avLst>
              <a:gd name="adj" fmla="val 5000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165592" y="1783080"/>
            <a:ext cx="1828800" cy="109728"/>
          </a:xfrm>
          <a:prstGeom prst="rect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165592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6"/>
          <p:cNvSpPr/>
          <p:nvPr/>
        </p:nvSpPr>
        <p:spPr>
          <a:xfrm>
            <a:off x="8275320" y="2926080"/>
            <a:ext cx="1609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</a:t>
            </a:r>
            <a:endParaRPr lang="en-US" sz="1500" dirty="0"/>
          </a:p>
        </p:txBody>
      </p:sp>
      <p:sp>
        <p:nvSpPr>
          <p:cNvPr id="31" name="Text 27"/>
          <p:cNvSpPr/>
          <p:nvPr/>
        </p:nvSpPr>
        <p:spPr>
          <a:xfrm>
            <a:off x="8275320" y="420624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Post-assessment &amp; growth delta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10104120" y="1783080"/>
            <a:ext cx="182880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10104120" y="1783080"/>
            <a:ext cx="1828800" cy="109728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101041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64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000" dirty="0"/>
          </a:p>
        </p:txBody>
      </p:sp>
      <p:sp>
        <p:nvSpPr>
          <p:cNvPr id="35" name="Text 31"/>
          <p:cNvSpPr/>
          <p:nvPr/>
        </p:nvSpPr>
        <p:spPr>
          <a:xfrm>
            <a:off x="10213848" y="2926080"/>
            <a:ext cx="16093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certificate</a:t>
            </a:r>
            <a:endParaRPr lang="en-US" sz="1500" dirty="0"/>
          </a:p>
        </p:txBody>
      </p:sp>
      <p:sp>
        <p:nvSpPr>
          <p:cNvPr id="36" name="Text 32"/>
          <p:cNvSpPr/>
          <p:nvPr/>
        </p:nvSpPr>
        <p:spPr>
          <a:xfrm>
            <a:off x="10213848" y="4206240"/>
            <a:ext cx="16093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report + verified cert</a:t>
            </a:r>
            <a:endParaRPr lang="en-US" sz="1200" dirty="0"/>
          </a:p>
        </p:txBody>
      </p:sp>
      <p:sp>
        <p:nvSpPr>
          <p:cNvPr id="37" name="Text 33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7/12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82880"/>
            <a:ext cx="169164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4320"/>
            <a:ext cx="1472184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31720" y="201168"/>
            <a:ext cx="9402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practice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57200" y="11704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Insight becomes behaviour.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one-off courses: continuous face tracking, micro-practices, and a weekly plan keep growth alive between sessions.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214884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777240" y="24688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7240" y="2606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777240" y="3383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check-in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777240" y="38404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320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 PULSE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77240" y="429768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ratings across the six faces reveal patterns over days and weeks—strengths, dips, and priorities.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251960" y="214884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72000" y="24688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572000" y="2606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4572000" y="3383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Micro-practices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4572000" y="38404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1F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REPS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4572000" y="429768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targeted actions matched to weaker faces so deliberate practice fits real schedules.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8046720" y="2148840"/>
            <a:ext cx="3611880" cy="393192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366760" y="24688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366760" y="26060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8366760" y="3383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plan</a:t>
            </a:r>
            <a:endParaRPr lang="en-US" sz="1900" dirty="0"/>
          </a:p>
        </p:txBody>
      </p:sp>
      <p:sp>
        <p:nvSpPr>
          <p:cNvPr id="24" name="Text 20"/>
          <p:cNvSpPr/>
          <p:nvPr/>
        </p:nvSpPr>
        <p:spPr>
          <a:xfrm>
            <a:off x="8366760" y="38404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&amp; REVIEW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366760" y="429768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plan that names focus faces, wins, and next steps—ready for coaches and cohorts.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8/12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82880"/>
            <a:ext cx="169164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4320"/>
            <a:ext cx="1472184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31720" y="201168"/>
            <a:ext cx="9402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57200" y="11704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cube. Age-adapted language.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457200" y="169164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457200" y="1691640"/>
            <a:ext cx="3611880" cy="1051560"/>
          </a:xfrm>
          <a:prstGeom prst="rect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31520" y="1874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Kids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731520" y="2286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5–12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31520" y="30175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character, curiosity, and kindness.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31520" y="3931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Stories, play-based practice, parent/teacher support.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251960" y="169164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251960" y="1691640"/>
            <a:ext cx="3611880" cy="1051560"/>
          </a:xfrm>
          <a:prstGeom prst="rect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26280" y="1874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Adolescents</a:t>
            </a:r>
            <a:endParaRPr lang="en-US" sz="2200" dirty="0"/>
          </a:p>
        </p:txBody>
      </p:sp>
      <p:sp>
        <p:nvSpPr>
          <p:cNvPr id="16" name="Text 12"/>
          <p:cNvSpPr/>
          <p:nvPr/>
        </p:nvSpPr>
        <p:spPr>
          <a:xfrm>
            <a:off x="4526280" y="2286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13–21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526280" y="30175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influence, and wise decisions.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4526280" y="3931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School, sport, first jobs, digital life scenarios.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46720" y="1691640"/>
            <a:ext cx="3611880" cy="3246120"/>
          </a:xfrm>
          <a:prstGeom prst="roundRect">
            <a:avLst>
              <a:gd name="adj" fmla="val 2817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046720" y="1691640"/>
            <a:ext cx="3611880" cy="1051560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8321040" y="18745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Adults</a:t>
            </a:r>
            <a:endParaRPr lang="en-US" sz="2200" dirty="0"/>
          </a:p>
        </p:txBody>
      </p:sp>
      <p:sp>
        <p:nvSpPr>
          <p:cNvPr id="22" name="Text 18"/>
          <p:cNvSpPr/>
          <p:nvPr/>
        </p:nvSpPr>
        <p:spPr>
          <a:xfrm>
            <a:off x="8321040" y="2286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Ages 22+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8321040" y="30175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Human-centric leadership for work and life.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8321040" y="3931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pathway: assess → learn → practise → report.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 ·  Individuals  ·  Schools  ·  Corporate L&amp;D  ·  Coaches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language from age 5 to senior leadership—one model, adapted pathways.</a:t>
            </a:r>
            <a:endParaRPr lang="en-US" sz="1300" dirty="0"/>
          </a:p>
        </p:txBody>
      </p:sp>
      <p:sp>
        <p:nvSpPr>
          <p:cNvPr id="27" name="Text 23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9/12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82880"/>
            <a:ext cx="169164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4320"/>
            <a:ext cx="1472184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31720" y="201168"/>
            <a:ext cx="9402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57200" y="11704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Seat packs, cohorts, and coach visibility.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457200" y="169164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8" name="Shape 4"/>
          <p:cNvSpPr/>
          <p:nvPr/>
        </p:nvSpPr>
        <p:spPr>
          <a:xfrm>
            <a:off x="713232" y="1984248"/>
            <a:ext cx="292608" cy="292608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143000" y="198424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713232" y="251460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20 / 50 seats with volume discounts for classrooms, departments, and school or company licences.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4251960" y="169164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07992" y="1984248"/>
            <a:ext cx="292608" cy="292608"/>
          </a:xfrm>
          <a:prstGeom prst="ellipse">
            <a:avLst/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937760" y="198424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codes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507992" y="251460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Learners join with a simple code—roster stays under coach and admin control.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046720" y="169164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302752" y="1984248"/>
            <a:ext cx="292608" cy="292608"/>
          </a:xfrm>
          <a:prstGeom prst="ellipse">
            <a:avLst/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732520" y="198424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 heat map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8302752" y="251460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face strengths and gaps across a cohort so facilitation targets what matters.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457200" y="38862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13232" y="4178808"/>
            <a:ext cx="292608" cy="292608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143000" y="417880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713232" y="47091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and outcomes export for L&amp;D systems, boards, and safeguarding records.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4251960" y="38862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4507992" y="4178808"/>
            <a:ext cx="292608" cy="292608"/>
          </a:xfrm>
          <a:prstGeom prst="ellipse">
            <a:avLst/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4937760" y="417880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journals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4507992" y="47091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Learner reflections stay private; coaches get aggregate signals without oversharing.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8046720" y="3886200"/>
            <a:ext cx="36118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8302752" y="4178808"/>
            <a:ext cx="292608" cy="292608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732520" y="417880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Facilitator kit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8302752" y="470916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8-week cohort pattern: orient, baseline, faces, re-measure, certify—ready for staff rooms.</a:t>
            </a:r>
            <a:endParaRPr lang="en-US" sz="1300" dirty="0"/>
          </a:p>
        </p:txBody>
      </p:sp>
      <p:sp>
        <p:nvSpPr>
          <p:cNvPr id="31" name="Text 27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10/12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84124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82880"/>
            <a:ext cx="1691640" cy="475488"/>
          </a:xfrm>
          <a:prstGeom prst="roundRect">
            <a:avLst>
              <a:gd name="adj" fmla="val 230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4320"/>
            <a:ext cx="1472184" cy="29260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331720" y="201168"/>
            <a:ext cx="9402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457200" y="1170432"/>
            <a:ext cx="11277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free. Pay once. No subscription.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457200" y="1691640"/>
            <a:ext cx="3566160" cy="43434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77240" y="19659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169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777240" y="2377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</a:t>
            </a:r>
            <a:endParaRPr lang="en-US" sz="3400" dirty="0"/>
          </a:p>
        </p:txBody>
      </p:sp>
      <p:sp>
        <p:nvSpPr>
          <p:cNvPr id="10" name="Text 6"/>
          <p:cNvSpPr/>
          <p:nvPr/>
        </p:nvSpPr>
        <p:spPr>
          <a:xfrm>
            <a:off x="777240" y="310896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Device-local baseline across six faces. See your map before you commit to the full pathway.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77240" y="5303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card required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4297680" y="1691640"/>
            <a:ext cx="3566160" cy="4343400"/>
          </a:xfrm>
          <a:prstGeom prst="roundRect">
            <a:avLst>
              <a:gd name="adj" fmla="val 2564"/>
            </a:avLst>
          </a:prstGeom>
          <a:solidFill>
            <a:srgbClr val="0A0A0A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297680" y="1691640"/>
            <a:ext cx="3566160" cy="109728"/>
          </a:xfrm>
          <a:prstGeom prst="rect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20116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PATHWAY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4617720" y="242316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R99  /  $6</a:t>
            </a:r>
            <a:endParaRPr lang="en-US" sz="3000" dirty="0"/>
          </a:p>
        </p:txBody>
      </p:sp>
      <p:sp>
        <p:nvSpPr>
          <p:cNvPr id="16" name="Text 12"/>
          <p:cNvSpPr/>
          <p:nvPr/>
        </p:nvSpPr>
        <p:spPr>
          <a:xfrm>
            <a:off x="4617720" y="2971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per learner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4617720" y="347472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→ courses → practice → re-measure → report &amp; certificate. Same price for Kids, Adolescents, and Adults.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617720" y="5303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checkout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138160" y="1691640"/>
            <a:ext cx="3566160" cy="43434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E7E5E0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8458200" y="19659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D8F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PACKS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458200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 discount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8458200" y="3108960"/>
            <a:ext cx="201168" cy="201168"/>
          </a:xfrm>
          <a:prstGeom prst="ellipse">
            <a:avLst/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77824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seats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877824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off  ·  classroom pilot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458200" y="3931920"/>
            <a:ext cx="201168" cy="201168"/>
          </a:xfrm>
          <a:prstGeom prst="ellipse">
            <a:avLst/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8778240" y="38862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seats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8778240" y="41788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 off  ·  popular cohort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8458200" y="4754880"/>
            <a:ext cx="201168" cy="201168"/>
          </a:xfrm>
          <a:prstGeom prst="ellipse">
            <a:avLst/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8778240" y="47091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seats</a:t>
            </a:r>
            <a:endParaRPr lang="en-US" sz="1500" dirty="0"/>
          </a:p>
        </p:txBody>
      </p:sp>
      <p:sp>
        <p:nvSpPr>
          <p:cNvPr id="30" name="Text 26"/>
          <p:cNvSpPr/>
          <p:nvPr/>
        </p:nvSpPr>
        <p:spPr>
          <a:xfrm>
            <a:off x="8778240" y="500176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off  ·  school licence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32" name="Text 28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11/12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s/super-cube-website/scripts/.pptx-assets/rainbow-hea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2011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57200" y="1097280"/>
            <a:ext cx="201168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pic>
        <p:nvPicPr>
          <p:cNvPr id="4" name="Image 1" descr="/workspaces/super-cube-website/public/brand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" y="1188720"/>
            <a:ext cx="1755648" cy="34747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457200" y="1965960"/>
            <a:ext cx="10972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to develop leaders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the core outward?</a:t>
            </a:r>
            <a:endParaRPr lang="en-US" sz="3400" dirty="0"/>
          </a:p>
        </p:txBody>
      </p:sp>
      <p:sp>
        <p:nvSpPr>
          <p:cNvPr id="6" name="Shape 2"/>
          <p:cNvSpPr/>
          <p:nvPr/>
        </p:nvSpPr>
        <p:spPr>
          <a:xfrm>
            <a:off x="457200" y="3383280"/>
            <a:ext cx="3200400" cy="640080"/>
          </a:xfrm>
          <a:prstGeom prst="roundRect">
            <a:avLst>
              <a:gd name="adj" fmla="val 14286"/>
            </a:avLst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  <a:effectLst>
            <a:outerShdw sx="100000" sy="100000" kx="0" ky="0" algn="bl" rotWithShape="0" blurRad="127000" dist="38100" dir="16200000">
              <a:srgbClr val="000000">
                <a:alpha val="10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457200" y="3520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free baseline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3886200" y="3383280"/>
            <a:ext cx="2743200" cy="640080"/>
          </a:xfrm>
          <a:prstGeom prst="roundRect">
            <a:avLst>
              <a:gd name="adj" fmla="val 14286"/>
            </a:avLst>
          </a:prstGeom>
          <a:solidFill>
            <a:srgbClr val="1F1F1F"/>
          </a:solidFill>
          <a:ln w="19050">
            <a:solidFill>
              <a:srgbClr val="40404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3886200" y="3520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pilot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45720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pPr indent="0" marL="0">
              <a:buNone/>
            </a:pPr>
            <a:r>
              <a:rPr lang="en-US" sz="160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600" dirty="0">
                <a:solidFill>
                  <a:srgbClr val="D4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hello@super-cube.me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457200" y="512064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B32026"/>
          </a:solidFill>
          <a:ln w="12700">
            <a:solidFill>
              <a:srgbClr val="B3202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7200" y="5166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Choices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331720" y="512064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5D1F5E"/>
          </a:solidFill>
          <a:ln w="12700">
            <a:solidFill>
              <a:srgbClr val="5D1F5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331720" y="5166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206240" y="512064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8F20"/>
          </a:solidFill>
          <a:ln w="12700">
            <a:solidFill>
              <a:srgbClr val="ED8F20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206240" y="5166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080760" y="512064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367638"/>
          </a:solidFill>
          <a:ln w="12700">
            <a:solidFill>
              <a:srgbClr val="36763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080760" y="5166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955280" y="512064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16979A"/>
          </a:solidFill>
          <a:ln w="12700">
            <a:solidFill>
              <a:srgbClr val="16979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955280" y="5166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9829800" y="512064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26408C"/>
          </a:solidFill>
          <a:ln w="12700">
            <a:solidFill>
              <a:srgbClr val="26408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9829800" y="5166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57200" y="5806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3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Craig Ross Muller  ·  Super-Cube®  ·  Human-centric leadership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57200" y="6510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www.super-cube.me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10637215" y="6510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3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12/12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Super-Cube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Super-Cube® Overview</dc:title>
  <dc:subject>Human-centric leadership developed from the core outward</dc:subject>
  <dc:creator>Craig Ross Muller</dc:creator>
  <cp:lastModifiedBy>Craig Ross Muller</cp:lastModifiedBy>
  <cp:revision>1</cp:revision>
  <dcterms:created xsi:type="dcterms:W3CDTF">2026-08-12T13:39:51Z</dcterms:created>
  <dcterms:modified xsi:type="dcterms:W3CDTF">2026-08-12T13:39:51Z</dcterms:modified>
</cp:coreProperties>
</file>